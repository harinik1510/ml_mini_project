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3" r:id="rId5"/>
    <p:sldId id="258" r:id="rId6"/>
    <p:sldId id="260" r:id="rId7"/>
    <p:sldId id="266" r:id="rId8"/>
    <p:sldId id="267" r:id="rId9"/>
    <p:sldId id="269" r:id="rId10"/>
    <p:sldId id="27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B73585-903C-4177-AD2D-DFA4C2877EC1}" v="62" dt="2025-10-20T17:43:22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0"/>
  </p:normalViewPr>
  <p:slideViewPr>
    <p:cSldViewPr snapToGrid="0">
      <p:cViewPr varScale="1">
        <p:scale>
          <a:sx n="78" d="100"/>
          <a:sy n="78" d="100"/>
        </p:scale>
        <p:origin x="78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inik1510/ML_Mini_Project/blob/main/ML_MINI_PROJECT.docx" TargetMode="External"/><Relationship Id="rId2" Type="http://schemas.openxmlformats.org/officeDocument/2006/relationships/hyperlink" Target="https://github.com/harinik1510/ML_Mini_Project/blob/main/app.p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" TargetMode="External"/><Relationship Id="rId7" Type="http://schemas.openxmlformats.org/officeDocument/2006/relationships/hyperlink" Target="https://docs.python.org/3/" TargetMode="External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" TargetMode="External"/><Relationship Id="rId5" Type="http://schemas.openxmlformats.org/officeDocument/2006/relationships/hyperlink" Target="https://towardsdatascience.com/" TargetMode="External"/><Relationship Id="rId4" Type="http://schemas.openxmlformats.org/officeDocument/2006/relationships/hyperlink" Target="https://www.kag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IV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>
                <a:latin typeface="+mn-lt"/>
              </a:rPr>
              <a:t>Comparative Study On Decision Tree and Support Vector Machine For Loan Approval Prediction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66054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 HARINI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4/25/2026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818148"/>
            <a:ext cx="10793361" cy="5358816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is often done manually, which can be time-consuming and prone to errors or bias. There is a need for an automated system that can accurately predict whether a loan should be approved or rejected based on applicant details.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machine learning model using Decision Tree and Support Vector Machine (SVM) to analyze applicant data and provide reliable loan approval predictions.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50000"/>
              </a:lnSpc>
              <a:buNone/>
            </a:pPr>
            <a:r>
              <a:rPr lang="en-US" sz="2000" dirty="0"/>
              <a:t>• Develop a machine learning model for loan approval prediction</a:t>
            </a:r>
            <a:br>
              <a:rPr lang="en-US" sz="2000" dirty="0"/>
            </a:br>
            <a:r>
              <a:rPr lang="en-US" sz="2000" dirty="0"/>
              <a:t>• Use Decision Tree and Support Vector Machine (SVM) algorithms</a:t>
            </a:r>
            <a:br>
              <a:rPr lang="en-US" sz="2000" dirty="0"/>
            </a:br>
            <a:r>
              <a:rPr lang="en-US" sz="2000" dirty="0"/>
              <a:t>• Analyze applicant data such as income, credit history, and loan amount</a:t>
            </a:r>
            <a:br>
              <a:rPr lang="en-US" sz="2000" dirty="0"/>
            </a:br>
            <a:r>
              <a:rPr lang="en-US" sz="2000" dirty="0"/>
              <a:t>• Predict whether a loan should be approved or rejected</a:t>
            </a:r>
            <a:br>
              <a:rPr lang="en-US" sz="2000" dirty="0"/>
            </a:br>
            <a:r>
              <a:rPr lang="en-US" sz="2000" dirty="0"/>
              <a:t>• Compare model performance using accuracy, precision, recall, and F1-score</a:t>
            </a:r>
            <a:br>
              <a:rPr lang="en-US" sz="2000" dirty="0"/>
            </a:br>
            <a:r>
              <a:rPr lang="en-US" sz="2000" dirty="0"/>
              <a:t>• Provide visualizations for better understanding and decision-making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C525A-2A93-F529-7C5D-CFDB934039B2}"/>
              </a:ext>
            </a:extLst>
          </p:cNvPr>
          <p:cNvSpPr txBox="1"/>
          <p:nvPr/>
        </p:nvSpPr>
        <p:spPr>
          <a:xfrm>
            <a:off x="663678" y="1471979"/>
            <a:ext cx="112726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Used: Decision Tree and SVM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supervised learning algorithm used for classification. It divides the dataset into smaller subsets based on feature conditions, forming a tree-like structure where each leaf node represents the final decision (Approved/Rejected).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classification algorithm that finds the optimal hyperplane to separate data into different classes with maximum margin, ensuring better accuracy and generalization.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Representation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(Gini Index):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= 1 − Σ(pi)²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probability of each class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Equation: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w·x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weight,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input,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bias</a:t>
            </a:r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435A-10F7-BFC5-00EC-58E40C44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2645-36EF-8091-6776-B59E845F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F1624-D8B0-39D8-1C6F-BCD4B3C02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Algorithms?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Tree is easy to understand and interpret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Handles both categorical and numerical data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SVM provides high accuracy and avoids overfitting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Effective for classification problems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– Simple but less effective for complex patterns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Tree – Easy to use but may overfit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SVM – High accuracy but computationally complex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– Reduces overfitting but requires more resources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0121-F38D-D79C-3D65-B6D35C0C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E3686-D39B-BA2A-7691-6B642EA9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7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878118"/>
              </p:ext>
            </p:extLst>
          </p:nvPr>
        </p:nvGraphicFramePr>
        <p:xfrm>
          <a:off x="1465006" y="2304824"/>
          <a:ext cx="9104672" cy="30088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43674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5760998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32572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8143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2"/>
                        </a:rPr>
                        <a:t>https://github.com/harinik1510/ML_Mini_Project/blob/main/app.py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8143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3"/>
                        </a:rPr>
                        <a:t>https://github.com/harinik1510/ML_Mini_Project/blob/main/ML_MINI_PROJECT.docx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8143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267326"/>
            <a:ext cx="11523405" cy="4909637"/>
          </a:xfrm>
        </p:spPr>
        <p:txBody>
          <a:bodyPr>
            <a:normAutofit fontScale="85000" lnSpcReduction="20000"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lvl="0" indent="0">
              <a:buNone/>
            </a:pPr>
            <a:r>
              <a:rPr lang="en-US" dirty="0"/>
              <a:t>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                                                                    </a:t>
            </a:r>
          </a:p>
          <a:p>
            <a:pPr lvl="0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displays the input form where the user enters applicant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details such as gender, income, loan amount, credit history, and property area. </a:t>
            </a:r>
          </a:p>
          <a:p>
            <a:pPr lvl="0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is designed using a structured layout with dropdowns and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input fields for easy data entry. </a:t>
            </a:r>
          </a:p>
          <a:p>
            <a:pPr lvl="0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user-friendly interaction and validates inputs before prediction.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B051A-1435-9DFF-FA09-965F7FE0E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25" y="1190041"/>
            <a:ext cx="5398943" cy="31094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B86110-93B3-1663-365F-480A39712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672" y="2606893"/>
            <a:ext cx="5151120" cy="1692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801A68-B3F0-EFB7-CF01-DA0BC2C9EE8E}"/>
              </a:ext>
            </a:extLst>
          </p:cNvPr>
          <p:cNvSpPr txBox="1"/>
          <p:nvPr/>
        </p:nvSpPr>
        <p:spPr>
          <a:xfrm>
            <a:off x="6774672" y="4522105"/>
            <a:ext cx="46993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screen shows the predicted loan status (Approved/Rejected) generated by Decision Tree and SVM models along with confidence scores.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displayed clearly for comparison between both models.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understand how different algorithms respond to the same input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120EC-64D2-7EBD-6A92-372AAEC6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C9586-8813-A4AF-1701-D33FFAEE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902B-AE09-89D5-509D-0ADA6DA87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267326"/>
            <a:ext cx="11068665" cy="4909637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2CBA-FE6F-C749-5CEC-672E1C0D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8F285-A580-C8E4-D07D-595349FB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D62F5-2583-DD36-B330-99B867EB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" y="1387822"/>
            <a:ext cx="5031105" cy="3103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69D1C6-D11C-B4DE-8D65-7E6F6BD92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450" y="1387823"/>
            <a:ext cx="4592506" cy="3090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2E7BE9-C0D2-4B5C-36E8-51F9AAACCDC7}"/>
              </a:ext>
            </a:extLst>
          </p:cNvPr>
          <p:cNvSpPr txBox="1"/>
          <p:nvPr/>
        </p:nvSpPr>
        <p:spPr>
          <a:xfrm>
            <a:off x="601275" y="4871403"/>
            <a:ext cx="5366906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graph compares the confidence scores of Decision Tree and </a:t>
            </a:r>
          </a:p>
          <a:p>
            <a:pPr marR="0" lvl="0"/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Vector Machine (SVM) for the given input. </a:t>
            </a:r>
          </a:p>
          <a:p>
            <a:pPr marL="285750" marR="0" lvl="0" indent="-285750"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shows the probability of loan approval predicted by each model.</a:t>
            </a:r>
          </a:p>
          <a:p>
            <a:pPr marR="0" lvl="0"/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Higher confidence indicates stronger certainty in the prediction. </a:t>
            </a:r>
          </a:p>
          <a:p>
            <a:pPr marL="285750" marR="0" lvl="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visualization helps in understanding which model is more</a:t>
            </a:r>
          </a:p>
          <a:p>
            <a:pPr marR="0" lvl="0">
              <a:spcAft>
                <a:spcPts val="800"/>
              </a:spcAf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confident</a:t>
            </a:r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 its decision for the same applicant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450982-C32B-C2AC-E630-7C4EE77A727F}"/>
              </a:ext>
            </a:extLst>
          </p:cNvPr>
          <p:cNvSpPr txBox="1"/>
          <p:nvPr/>
        </p:nvSpPr>
        <p:spPr>
          <a:xfrm>
            <a:off x="6561887" y="4876919"/>
            <a:ext cx="488512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the distribution of approved and rejected loan applications.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understanding whether the dataset is balanced or biased.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also gives an overview of overall loan approval trends.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7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132E-0EEC-9D20-27EF-358891FF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FAB3-4F89-DCAA-C93F-82B164DB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57143-9C3C-C7C9-5F05-99E23C789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7" y="1446713"/>
            <a:ext cx="10515600" cy="4909637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marR="0" lvl="0" indent="0">
              <a:lnSpc>
                <a:spcPct val="115000"/>
              </a:lnSpc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E39F-1197-451C-84E7-161CDCC4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AA376-1EE3-EF6B-949F-277D3AD9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7CA018-777D-DAF2-7299-FCB0024B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44" y="1326738"/>
            <a:ext cx="4884420" cy="3314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567613-E848-1496-B4A3-68A621D2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828" y="1326738"/>
            <a:ext cx="5244527" cy="33140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FF7301-0F24-947F-8223-6003E49C4E10}"/>
              </a:ext>
            </a:extLst>
          </p:cNvPr>
          <p:cNvSpPr txBox="1"/>
          <p:nvPr/>
        </p:nvSpPr>
        <p:spPr>
          <a:xfrm>
            <a:off x="503903" y="4826511"/>
            <a:ext cx="53069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bar chart compares Decision Tree and SVM using accuracy,</a:t>
            </a:r>
          </a:p>
          <a:p>
            <a:pPr marR="0" lvl="0"/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precision, recall, and F1-score.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visually represents which model performs better across different</a:t>
            </a:r>
          </a:p>
          <a:p>
            <a:pPr marR="0" lvl="0"/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metrics.</a:t>
            </a: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helps in selecting the most suitable model for loan prediction.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30ABB-1EB7-7BE8-31CE-3758B36C3F55}"/>
              </a:ext>
            </a:extLst>
          </p:cNvPr>
          <p:cNvSpPr txBox="1"/>
          <p:nvPr/>
        </p:nvSpPr>
        <p:spPr>
          <a:xfrm>
            <a:off x="6096000" y="4826511"/>
            <a:ext cx="55920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screen displays the performance metrics of Decision Tree and Support Vector Machine (SVM) models in text format. 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includes important evaluation measures such as accuracy, precision, recall, and F1-score for both models. </a:t>
            </a: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comparison helps in clearly understanding the effectiveness of each algorithm. </a:t>
            </a:r>
          </a:p>
        </p:txBody>
      </p:sp>
    </p:spTree>
    <p:extLst>
      <p:ext uri="{BB962C8B-B14F-4D97-AF65-F5344CB8AC3E}">
        <p14:creationId xmlns:p14="http://schemas.microsoft.com/office/powerpoint/2010/main" val="249150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04A86-653E-98A5-8C35-3EAABA5E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6EF2-80BA-30F3-DEDB-DFCA2346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0AC40-1181-D307-17A0-38E4D102A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073" y="1446713"/>
            <a:ext cx="10515600" cy="4909637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marR="0" lvl="0" indent="0">
              <a:lnSpc>
                <a:spcPct val="115000"/>
              </a:lnSpc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49DFA-91D1-8119-6222-B0952A7C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10EE2-2009-487F-6EC0-C2C9137F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F4693-66EA-A188-BBB1-2E7F922A3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93" y="1446713"/>
            <a:ext cx="5069840" cy="3019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0B06A-E71B-8C1C-5504-27C939784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316" y="1446713"/>
            <a:ext cx="5268449" cy="3019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D218A-FE74-D276-0479-52942C616937}"/>
              </a:ext>
            </a:extLst>
          </p:cNvPr>
          <p:cNvSpPr txBox="1"/>
          <p:nvPr/>
        </p:nvSpPr>
        <p:spPr>
          <a:xfrm>
            <a:off x="395093" y="4718789"/>
            <a:ext cx="52289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matrix shows the performance of the models by displaying</a:t>
            </a:r>
          </a:p>
          <a:p>
            <a:pPr marR="0" lvl="0"/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correct and incorrect predictions (true positives, true negatives,</a:t>
            </a:r>
          </a:p>
          <a:p>
            <a:pPr marR="0" lvl="0"/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false positives, false negatives). 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provides a detailed view of how well the model classifies loan</a:t>
            </a:r>
          </a:p>
          <a:p>
            <a:pPr marR="0" lvl="0"/>
            <a:r>
              <a:rPr lang="en-US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approvals and rejections. </a:t>
            </a: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helps in identifying errors made by the model.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6855B-9498-D8A1-BFC4-AE59C5EE715C}"/>
              </a:ext>
            </a:extLst>
          </p:cNvPr>
          <p:cNvSpPr txBox="1"/>
          <p:nvPr/>
        </p:nvSpPr>
        <p:spPr>
          <a:xfrm>
            <a:off x="5956546" y="4784586"/>
            <a:ext cx="56633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graph represents the structure of the Decision Tree, showing how different features lead to the final prediction. </a:t>
            </a: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node displays a condition, and branches represent possible outcomes. </a:t>
            </a: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helps in understanding the decision-making process and the logic followed by the model.</a:t>
            </a:r>
          </a:p>
        </p:txBody>
      </p:sp>
    </p:spTree>
    <p:extLst>
      <p:ext uri="{BB962C8B-B14F-4D97-AF65-F5344CB8AC3E}">
        <p14:creationId xmlns:p14="http://schemas.microsoft.com/office/powerpoint/2010/main" val="289537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F47D3-1227-D1EC-BBF9-C4EF042B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101C-7366-99CB-E5A4-8A987457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C0E22-7C33-4780-A06E-8C4861AC9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E665B-888C-7CE8-0982-FC6A280B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20619-96C0-15EC-14AF-27903ED7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98E6E8-0610-878B-4843-DE2E79380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1267326"/>
            <a:ext cx="7600335" cy="31965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108926-547B-21AD-7C36-EEAB2BC71FAB}"/>
              </a:ext>
            </a:extLst>
          </p:cNvPr>
          <p:cNvSpPr txBox="1"/>
          <p:nvPr/>
        </p:nvSpPr>
        <p:spPr>
          <a:xfrm>
            <a:off x="432619" y="4736932"/>
            <a:ext cx="7452851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chart highlights the importance of features such as credit history, income, and loan amount in influencing loan approval. </a:t>
            </a: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Features with higher importance have a greater impact on the model’s decision. </a:t>
            </a: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visualization helps in identifying key factors affecting loan approval.</a:t>
            </a:r>
          </a:p>
        </p:txBody>
      </p:sp>
    </p:spTree>
    <p:extLst>
      <p:ext uri="{BB962C8B-B14F-4D97-AF65-F5344CB8AC3E}">
        <p14:creationId xmlns:p14="http://schemas.microsoft.com/office/powerpoint/2010/main" val="1324705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92500" lnSpcReduction="10000"/>
          </a:bodyPr>
          <a:lstStyle/>
          <a:p>
            <a:pPr lvl="0"/>
            <a:endParaRPr lang="en-GB" sz="2000" b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provides accurate loan approval predictions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 Tree and SVM give reliable classification results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prediction through web interface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User-friendly interface with clear outputs and graphs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in faster and unbiased decision-making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914400" lvl="2" indent="0">
              <a:lnSpc>
                <a:spcPct val="12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larger real-world banking datasets instead of limited data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advanced models like Random Forest or Deep Learning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prediction accuracy with feature engineering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as a mobile application for easy access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loan risk scoring and approval probability prediction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https://scikit-learn.org/stable/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 – Loan Prediction Dataset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https://archive.ics.uci.edu/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Machine Learning with Scikit-Learn,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TensorFlow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Aurélien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Géron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O’Reilly Media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Loan Prediction Dataset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Data Science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https://towardsdatascience.com/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Decision Tree &amp; SVM Tutorials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https://www.geeksforgeeks.org/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Software Foundation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https://docs.python.org/3/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1192</Words>
  <Application>Microsoft Office PowerPoint</Application>
  <PresentationFormat>Widescreen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DEPARTMENT OF CSE (ARTIFICIAL INTELLIGENCE AND MACHINE LEARNING) ACADEMIC YEAR 2025 - 2026 SEMESTER IV MACHINE LEARNING LABORATORY  MINI PROJECT REVIEW   &lt;Comparative Study On Decision Tree and Support Vector Machine For Loan Approval Prediction&gt;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OUTPUT AND RESULTS</vt:lpstr>
      <vt:lpstr>OUTPUT AND RESULTS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K Harini</cp:lastModifiedBy>
  <cp:revision>10</cp:revision>
  <dcterms:created xsi:type="dcterms:W3CDTF">2025-10-18T08:57:34Z</dcterms:created>
  <dcterms:modified xsi:type="dcterms:W3CDTF">2026-04-25T07:47:27Z</dcterms:modified>
</cp:coreProperties>
</file>