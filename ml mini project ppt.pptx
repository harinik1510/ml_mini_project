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56" r:id="rId2"/>
    <p:sldId id="257" r:id="rId3"/>
    <p:sldId id="259" r:id="rId4"/>
    <p:sldId id="263" r:id="rId5"/>
    <p:sldId id="258" r:id="rId6"/>
    <p:sldId id="260" r:id="rId7"/>
    <p:sldId id="266" r:id="rId8"/>
    <p:sldId id="267" r:id="rId9"/>
    <p:sldId id="269" r:id="rId10"/>
    <p:sldId id="270" r:id="rId11"/>
    <p:sldId id="261" r:id="rId12"/>
    <p:sldId id="262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5B73585-903C-4177-AD2D-DFA4C2877EC1}" v="62" dt="2025-10-20T17:43:22.725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7008"/>
    <p:restoredTop sz="94670"/>
  </p:normalViewPr>
  <p:slideViewPr>
    <p:cSldViewPr snapToGrid="0">
      <p:cViewPr varScale="1">
        <p:scale>
          <a:sx n="78" d="100"/>
          <a:sy n="78" d="100"/>
        </p:scale>
        <p:origin x="787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EF56DB-6447-4E9A-8D0B-327B958AB26D}" type="datetimeFigureOut">
              <a:rPr lang="en-US" smtClean="0"/>
              <a:t>4/25/2026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476D98-D61B-4655-9F07-885518B2E1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517948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42F0ED-5252-4C0D-3BA2-BA6ECDF9073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4F6E366-4DE2-8E81-1DC3-0AEE197AF61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C19ECA-A45F-0986-41DE-E73470F3D0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6A8A127-BB09-41A4-B1CB-CF09F8E9604A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6DC80E-2DDD-1136-4BC6-B4406DBF7B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3C6432E-64B5-4716-F794-CD0C848FE6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4283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275F44-3844-F881-3DC9-E55F3A5BB2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8B5DD6E-70DC-EC37-F363-8CA0371D48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E884CC4-4338-D905-6FCE-6141610CE9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9C543-C1A5-4BB5-A80B-9531F5C51CEB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D46F4CB-E19E-BF21-CA04-20FBF9E0B0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C561CA-A7D9-921E-283C-D2D26EC9D33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38281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9F0DB8-4328-6842-4C20-194E16496B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D1C16DD-B055-C373-DB9C-1095E3A7F6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308B3A-5B20-B104-4DC9-F294FE85DC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DB2ABE-BEC8-4A12-8AF2-3E9347C9F9C5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2F6EF1-C2BF-E0B8-5AD2-1E80894A92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3C3E5B-79C1-F551-EB78-424972E41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9751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4FA2CF-D4B2-C0EA-7D8B-9997981DFC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8EC816-FAB0-61B5-B8A9-3CEEDE3AC64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6888030-9606-40F3-F568-569861E67BB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26BC2E-18CA-513E-BBD3-A4A6A46824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57CA91-FD83-4EFE-93EA-63992C03614F}" type="datetime1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610C424-8EE7-DCF3-92CA-9943CA217BA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B02771-6578-A3F3-2DE5-957F26935FA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65012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3A56EB-15F3-DA5A-FC5F-C8A9854DFC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44F55B3-769C-0F68-56E4-09A31651F09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49390E3-482E-14E5-E93E-3EFDFCA024C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A5F7FD4-A0A2-100E-247B-0439DA6A8EA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AB19785-7F9E-F7E7-9989-FBA2A2436A0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99BF4CB-4B11-6795-84C1-91B139428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7D6C43A-13E2-48A2-BAE5-CC73887FC199}" type="datetime1">
              <a:rPr lang="en-US" smtClean="0"/>
              <a:t>4/25/2026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F52FCB82-5972-D333-E21C-DF24F6BCF4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F12211A-324E-9069-32B0-8F509730AD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20882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40A965-A2B0-80BB-C6BA-CCCFA272AE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F0A2016-FBBB-4A1F-6F9E-FE6A63DE48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EA2C5D3-416C-4131-8BC9-E71DA97D5A64}" type="datetime1">
              <a:rPr lang="en-US" smtClean="0"/>
              <a:t>4/25/2026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BE845DF-F961-5466-32C3-C6385060CC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6E057F6-928A-6D9F-4161-C04DEAA83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59743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DB366D7-6680-4FD6-C029-DC5C0BB2354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971593-8386-48B7-BB85-87C0949B2086}" type="datetime1">
              <a:rPr lang="en-US" smtClean="0"/>
              <a:t>4/25/2026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94179984-8567-91CB-0310-29A3752B78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22C7A0D-606C-3BF9-8DBE-908D80966AD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93762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C684C1-8596-31A1-180D-C7EC5332BBD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13762C2-B7CC-ADA3-9D39-3541B3FE5A3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835A5F9-7E68-401F-C3BB-09FB74F827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A5F73E6-ECB8-2943-41D8-05812D848AD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70F398-88D3-4D2F-9F7E-785BF8AD0274}" type="datetime1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6B5AF7-95CA-05D2-1119-F667C7B6F8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2599C23-C916-AE53-9371-42CF3819D0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99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B9AC56-39A4-2278-722C-617F9F770A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1FAD1B2-1942-74FB-C400-0DB0C13B90D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1DA8F38-E9BE-47E4-7662-3CD4AECCB2B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28AE0B-2CCA-EDA3-1B80-8F2E1DF84C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E1A94C1-07AC-4775-8A4F-70BB05306BF7}" type="datetime1">
              <a:rPr lang="en-US" smtClean="0"/>
              <a:t>4/25/2026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FDB1342-9AFD-57F0-2E90-76ECCEAFA3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DE180B8-E20A-6138-1A1C-1E980CAD40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94942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F050B6-05B4-E3FE-22C0-B823946C34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534B519-CE0F-EF5E-0363-067F1B0DB1E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9E2CA70-5E41-1433-D1D4-58B7EECA7D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0BF149-3A71-4B38-9BDE-7A4D7C7AB1AD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27E013-1DD3-69EC-2DB2-F95CD34915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D12FAA7-8459-22BB-DD92-45D2DCDBB7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21906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65F096-56EB-9C2E-FB81-FEE0A0CAD97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F2D9855-6F39-E67A-6BE9-0AC527E9721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C113E1-9951-703E-A152-D5CEEC0EEDD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5415CF1-83E4-4056-B983-BD617F30DAFA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463D87-637E-E53B-45EF-5E53B2925E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5677AB-ED08-1C04-AEC4-B8B3B85BC4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4240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34DB59C-E06D-9064-D0E9-EE878347C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03B2644-B987-EA40-64D1-C253A45B0A1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BC9483-BDE6-AF2E-5EF6-5FD8C63DA8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FA37CB-3111-4E43-978B-840B0C3E984E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6345DA1-9E37-8BE4-5FD8-30862397363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9C78D0E-8A6B-A368-9312-1F3C29DDBA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CEF87E-815D-44D1-B0AB-39AF0402D6A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65271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harinik1510/ML_Mini_Project/blob/main/ML_MINI_PROJECT.docx" TargetMode="External"/><Relationship Id="rId2" Type="http://schemas.openxmlformats.org/officeDocument/2006/relationships/hyperlink" Target="https://github.com/harinik1510/ML_Mini_Project/blob/main/app.py" TargetMode="Externa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archive.ics.uci.edu/" TargetMode="External"/><Relationship Id="rId7" Type="http://schemas.openxmlformats.org/officeDocument/2006/relationships/hyperlink" Target="https://docs.python.org/3/" TargetMode="External"/><Relationship Id="rId2" Type="http://schemas.openxmlformats.org/officeDocument/2006/relationships/hyperlink" Target="https://scikit-learn.org/stable/" TargetMode="Externa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geeksforgeeks.org/" TargetMode="External"/><Relationship Id="rId5" Type="http://schemas.openxmlformats.org/officeDocument/2006/relationships/hyperlink" Target="https://towardsdatascience.com/" TargetMode="External"/><Relationship Id="rId4" Type="http://schemas.openxmlformats.org/officeDocument/2006/relationships/hyperlink" Target="https://www.kaggle.com/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7F15FA6-086D-491A-B175-0CA4656FBDCB}"/>
              </a:ext>
            </a:extLst>
          </p:cNvPr>
          <p:cNvPicPr/>
          <p:nvPr/>
        </p:nvPicPr>
        <p:blipFill>
          <a:blip r:embed="rId2" cstate="print"/>
          <a:srcRect l="21229" t="27213" r="21523" b="35253"/>
          <a:stretch>
            <a:fillRect/>
          </a:stretch>
        </p:blipFill>
        <p:spPr bwMode="auto">
          <a:xfrm>
            <a:off x="3256548" y="136525"/>
            <a:ext cx="4776536" cy="834189"/>
          </a:xfrm>
          <a:prstGeom prst="rect">
            <a:avLst/>
          </a:prstGeom>
          <a:ln>
            <a:headEnd/>
            <a:tailEnd type="none" w="med" len="med"/>
          </a:ln>
        </p:spPr>
        <p:style>
          <a:lnRef idx="1">
            <a:schemeClr val="accent2"/>
          </a:lnRef>
          <a:fillRef idx="3">
            <a:schemeClr val="accent2"/>
          </a:fillRef>
          <a:effectRef idx="2">
            <a:schemeClr val="accent2"/>
          </a:effectRef>
          <a:fontRef idx="minor">
            <a:schemeClr val="lt1"/>
          </a:fontRef>
        </p:style>
      </p:pic>
      <p:sp>
        <p:nvSpPr>
          <p:cNvPr id="7" name="Title 6">
            <a:extLst>
              <a:ext uri="{FF2B5EF4-FFF2-40B4-BE49-F238E27FC236}">
                <a16:creationId xmlns:a16="http://schemas.microsoft.com/office/drawing/2014/main" id="{5BEE647A-5606-A6E5-93DB-A43A8FC2D8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33138" y="1251284"/>
            <a:ext cx="10812378" cy="2458586"/>
          </a:xfrm>
        </p:spPr>
        <p:txBody>
          <a:bodyPr>
            <a:noAutofit/>
          </a:bodyPr>
          <a:lstStyle/>
          <a:p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DEPARTMENT OF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CSE (ARTIFICIAL INTELLIGENCE AND MACHINE LEARNING)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ACADEMIC YEAR 2025 - 2026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SEMESTER IV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LABORATORY</a:t>
            </a:r>
            <a:b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GB" sz="2400" b="1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MINI PROJECT REVIEW</a:t>
            </a:r>
            <a:r>
              <a:rPr lang="en-GB" sz="2400" dirty="0">
                <a:solidFill>
                  <a:srgbClr val="00206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&lt;</a:t>
            </a:r>
            <a:r>
              <a:rPr lang="en-GB" sz="1800" dirty="0">
                <a:effectLst/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Run Rate Based Score Prediction Model for IPL Matches using Random forest regression method</a:t>
            </a:r>
            <a:r>
              <a:rPr lang="en-US" sz="800" dirty="0">
                <a:effectLst/>
              </a:rPr>
              <a:t> </a:t>
            </a:r>
            <a:r>
              <a:rPr lang="en-GB" sz="2400" b="1" dirty="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&gt;</a:t>
            </a:r>
            <a:endParaRPr lang="en-US" sz="2400" b="1" dirty="0">
              <a:solidFill>
                <a:srgbClr val="FF0000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B39E0012-B3AF-E718-6BBA-5D37629E400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9166054"/>
              </p:ext>
            </p:extLst>
          </p:nvPr>
        </p:nvGraphicFramePr>
        <p:xfrm>
          <a:off x="2098841" y="3845961"/>
          <a:ext cx="8392696" cy="2458586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216485">
                  <a:extLst>
                    <a:ext uri="{9D8B030D-6E8A-4147-A177-3AD203B41FA5}">
                      <a16:colId xmlns:a16="http://schemas.microsoft.com/office/drawing/2014/main" val="1924387309"/>
                    </a:ext>
                  </a:extLst>
                </a:gridCol>
                <a:gridCol w="6176211">
                  <a:extLst>
                    <a:ext uri="{9D8B030D-6E8A-4147-A177-3AD203B41FA5}">
                      <a16:colId xmlns:a16="http://schemas.microsoft.com/office/drawing/2014/main" val="471423325"/>
                    </a:ext>
                  </a:extLst>
                </a:gridCol>
              </a:tblGrid>
              <a:tr h="486314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REGISTER NUMBER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2117240030039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7170341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NAME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K HARINI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67366592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YEAR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II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6965190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SECTION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34068443"/>
                  </a:ext>
                </a:extLst>
              </a:tr>
              <a:tr h="493068">
                <a:tc>
                  <a:txBody>
                    <a:bodyPr/>
                    <a:lstStyle/>
                    <a:p>
                      <a:r>
                        <a:rPr lang="en-GB" b="1" dirty="0">
                          <a:solidFill>
                            <a:schemeClr val="tx1"/>
                          </a:solidFill>
                        </a:rPr>
                        <a:t>FACULTY IN-CHARGE</a:t>
                      </a:r>
                      <a:endParaRPr lang="en-US" b="1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b="1" dirty="0"/>
                        <a:t>Mrs. M. Divya</a:t>
                      </a:r>
                      <a:endParaRPr lang="en-US" b="1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36199969"/>
                  </a:ext>
                </a:extLst>
              </a:tr>
            </a:tbl>
          </a:graphicData>
        </a:graphic>
      </p:graphicFrame>
      <p:sp>
        <p:nvSpPr>
          <p:cNvPr id="12" name="Date Placeholder 11">
            <a:extLst>
              <a:ext uri="{FF2B5EF4-FFF2-40B4-BE49-F238E27FC236}">
                <a16:creationId xmlns:a16="http://schemas.microsoft.com/office/drawing/2014/main" id="{6B174A57-15CE-2FFD-86D9-B7E8469248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B0B098-7844-408D-9BB3-6B083FBEE8AA}" type="datetime1">
              <a:rPr lang="en-US" smtClean="0"/>
              <a:t>4/25/2026</a:t>
            </a:fld>
            <a:endParaRPr lang="en-US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E4873981-939E-932D-DBE2-6B02CC92B8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079384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3E759A-0732-65F8-ABFC-93E81441B8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PROBLEM STATEMENT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E17474-C476-1051-3F37-A2159E2BEE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0439" y="818148"/>
            <a:ext cx="10793361" cy="5358816"/>
          </a:xfrm>
        </p:spPr>
        <p:txBody>
          <a:bodyPr>
            <a:normAutofit fontScale="92500" lnSpcReduction="10000"/>
          </a:bodyPr>
          <a:lstStyle/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Loan approval is often done manually, which can be time-consuming and prone to errors or bias. There is a need for an automated system that can accurately predict whether a loan should be approved or rejected based on applicant details.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project aims to develop a machine learning model using Decision Tree and Support Vector Machine (SVM) to analyze applicant data and provide reliable loan approval predictions.</a:t>
            </a:r>
          </a:p>
          <a:p>
            <a:pPr lvl="1"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b="1" kern="18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GOAL</a:t>
            </a:r>
            <a:endParaRPr lang="en-US" sz="2000" kern="100" dirty="0">
              <a:effectLst/>
              <a:latin typeface="Times New Roman" panose="02020603050405020304" pitchFamily="18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marL="1371600" lvl="3" indent="0">
              <a:lnSpc>
                <a:spcPct val="150000"/>
              </a:lnSpc>
              <a:buNone/>
            </a:pPr>
            <a:r>
              <a:rPr lang="en-US" sz="2000" dirty="0"/>
              <a:t>• Develop a machine learning model for loan approval prediction</a:t>
            </a:r>
            <a:br>
              <a:rPr lang="en-US" sz="2000" dirty="0"/>
            </a:br>
            <a:r>
              <a:rPr lang="en-US" sz="2000" dirty="0"/>
              <a:t>• Use Decision Tree and Support Vector Machine (SVM) algorithms</a:t>
            </a:r>
            <a:br>
              <a:rPr lang="en-US" sz="2000" dirty="0"/>
            </a:br>
            <a:r>
              <a:rPr lang="en-US" sz="2000" dirty="0"/>
              <a:t>• Analyze applicant data such as income, credit history, and loan amount</a:t>
            </a:r>
            <a:br>
              <a:rPr lang="en-US" sz="2000" dirty="0"/>
            </a:br>
            <a:r>
              <a:rPr lang="en-US" sz="2000" dirty="0"/>
              <a:t>• Predict whether a loan should be approved or rejected</a:t>
            </a:r>
            <a:br>
              <a:rPr lang="en-US" sz="2000" dirty="0"/>
            </a:br>
            <a:r>
              <a:rPr lang="en-US" sz="2000" dirty="0"/>
              <a:t>• Compare model performance using accuracy, precision, recall, and F1-score</a:t>
            </a:r>
            <a:br>
              <a:rPr lang="en-US" sz="2000" dirty="0"/>
            </a:br>
            <a:r>
              <a:rPr lang="en-US" sz="2000" dirty="0"/>
              <a:t>• Provide visualizations for better understanding and decision-making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5FF5BCC-B36E-DFE5-103F-31FA126320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253399-F526-B4B1-D444-32B3A164A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66147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ACC068-5F54-97E8-2F1C-0538F11269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7B2B1AF-B7ED-6DDA-888D-9BCAF08EA5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67243E-1300-82BE-9968-6837E801AFF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/>
          </a:bodyPr>
          <a:lstStyle/>
          <a:p>
            <a:pPr marL="457200" lvl="1" indent="0">
              <a:buNone/>
            </a:pPr>
            <a:endParaRPr lang="en-US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F593AB-ABA6-D8E8-42D9-A38FB7B4DB4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AE40CC-B05F-6325-A926-99504CD4A7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3</a:t>
            </a:fld>
            <a:endParaRPr lang="en-US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5CC525A-2A93-F529-7C5D-CFDB934039B2}"/>
              </a:ext>
            </a:extLst>
          </p:cNvPr>
          <p:cNvSpPr txBox="1"/>
          <p:nvPr/>
        </p:nvSpPr>
        <p:spPr>
          <a:xfrm>
            <a:off x="663678" y="1471979"/>
            <a:ext cx="11272684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Machine Learning Algorithms Used: Decision Tree and SVM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supervised learning algorithm used for classification. It divides the dataset into smaller subsets based on feature conditions, forming a tree-like structure where each leaf node represents the final decision (Approved/Rejected).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Support Vector Machine (SVM)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a classification algorithm that finds the optimal hyperplane to separate data into different classes with maximum margin, ensuring better accuracy and generalization.</a:t>
            </a:r>
          </a:p>
          <a:p>
            <a:pPr marL="342900" indent="-342900">
              <a:buFont typeface="Wingdings" panose="05000000000000000000" pitchFamily="2" charset="2"/>
              <a:buChar char="Ø"/>
            </a:pPr>
            <a:endParaRPr lang="en-US" sz="20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342900" indent="-342900"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Mathematical Representation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Decision Tree (Gini Index):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Gini = 1 − Σ(pi)²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the probability of each class</a:t>
            </a:r>
          </a:p>
          <a:p>
            <a:pPr marL="800100" lvl="1" indent="-342900">
              <a:buFont typeface="Wingdings" panose="05000000000000000000" pitchFamily="2" charset="2"/>
              <a:buChar char="§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SVM Equation: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f(x) = </a:t>
            </a:r>
            <a:r>
              <a:rPr lang="en-US" sz="20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w·x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+ b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weight,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x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input, and </a:t>
            </a:r>
            <a:r>
              <a:rPr lang="en-US" sz="20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is bias</a:t>
            </a:r>
          </a:p>
        </p:txBody>
      </p:sp>
    </p:spTree>
    <p:extLst>
      <p:ext uri="{BB962C8B-B14F-4D97-AF65-F5344CB8AC3E}">
        <p14:creationId xmlns:p14="http://schemas.microsoft.com/office/powerpoint/2010/main" val="28326923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2C435A-10F7-BFC5-00EC-58E40C4456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F62645-36EF-8091-6776-B59E845FD3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5509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THEORETICAL BACKGROUND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3F1624-D8B0-39D8-1C6F-BCD4B3C020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818148"/>
            <a:ext cx="10515600" cy="5358816"/>
          </a:xfrm>
        </p:spPr>
        <p:txBody>
          <a:bodyPr>
            <a:normAutofit fontScale="92500" lnSpcReduction="10000"/>
          </a:bodyPr>
          <a:lstStyle/>
          <a:p>
            <a:pPr marL="457200" lvl="1" indent="0">
              <a:buNone/>
            </a:pPr>
            <a:endParaRPr lang="en-US" sz="21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Why These Algorithms?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Decision Tree is easy to understand and interpret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Handles both categorical and numerical data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SVM provides high accuracy and avoids overfitting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Effective for classification problems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2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lnSpc>
                <a:spcPct val="150000"/>
              </a:lnSpc>
              <a:buFont typeface="Wingdings" panose="05000000000000000000" pitchFamily="2" charset="2"/>
              <a:buChar char="Ø"/>
            </a:pPr>
            <a:r>
              <a:rPr lang="en-US" sz="2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Literature Survey</a:t>
            </a:r>
          </a:p>
          <a:p>
            <a:pPr marL="457200" lvl="1" indent="0">
              <a:lnSpc>
                <a:spcPct val="150000"/>
              </a:lnSpc>
              <a:buNone/>
            </a:pP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Logistic Regression – Simple but less effective for complex patterns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Decision Tree – Easy to use but may overfit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SVM – High accuracy but computationally complex</a:t>
            </a:r>
            <a:b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0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Random Forest – Reduces overfitting but requires more resources</a:t>
            </a:r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EF90121-F38D-D79C-3D65-B6D35C0C1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6FBEDF-053F-468F-8CCF-D1ACE4FBB50D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4EE3686-D39B-BA2A-7691-6B642EA984D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727122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A34F6B-2294-8100-6428-71DD4A23A3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876350-5987-57CB-5096-A77DCA2009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IMPLEMENTATION AND CODE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29904C-7E5E-5862-ACA4-167CDBC5044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r>
              <a:rPr lang="en-GB" dirty="0"/>
              <a:t>Link to code in Git-hub Repository</a:t>
            </a:r>
          </a:p>
          <a:p>
            <a:endParaRPr lang="en-GB" dirty="0"/>
          </a:p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BC0E82-F7C5-E4B3-8BB9-1583AC631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4775014-201C-1110-C957-46A30A1C24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5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ACE64048-76D1-E559-97A6-1E9DA8CC9F6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52049"/>
              </p:ext>
            </p:extLst>
          </p:nvPr>
        </p:nvGraphicFramePr>
        <p:xfrm>
          <a:off x="1002891" y="2266182"/>
          <a:ext cx="10146890" cy="2291080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3470787">
                  <a:extLst>
                    <a:ext uri="{9D8B030D-6E8A-4147-A177-3AD203B41FA5}">
                      <a16:colId xmlns:a16="http://schemas.microsoft.com/office/drawing/2014/main" val="4052004335"/>
                    </a:ext>
                  </a:extLst>
                </a:gridCol>
                <a:gridCol w="6676103">
                  <a:extLst>
                    <a:ext uri="{9D8B030D-6E8A-4147-A177-3AD203B41FA5}">
                      <a16:colId xmlns:a16="http://schemas.microsoft.com/office/drawing/2014/main" val="1251959847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List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Git-hub Repository Links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9369799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Implementation of Code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linkClick r:id="rId2"/>
                        </a:rPr>
                        <a:t>https://github.com/harinik1510/ML_Mini_Project/blob/main/app.py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96202207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Word Document Report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hlinkClick r:id="rId3"/>
                        </a:rPr>
                        <a:t>https://github.com/harinik1510/ML_Mini_Project/blob/main/ML_MINI_PROJECT.docx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51050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GB" dirty="0">
                          <a:solidFill>
                            <a:schemeClr val="tx1"/>
                          </a:solidFill>
                        </a:rPr>
                        <a:t>PPT Link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0724171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195863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AF55069-71B1-83F0-E5F5-B02F8F5772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358887-D4AD-6383-79D6-F528D34824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511744-1841-7314-5231-7CC4C07DDED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3123" y="1267326"/>
            <a:ext cx="11523405" cy="4909637"/>
          </a:xfrm>
        </p:spPr>
        <p:txBody>
          <a:bodyPr>
            <a:normAutofit fontScale="85000" lnSpcReduction="20000"/>
          </a:bodyPr>
          <a:lstStyle/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marL="0" lvl="0" indent="0">
              <a:buNone/>
            </a:pPr>
            <a:r>
              <a:rPr lang="en-US" sz="1200" dirty="0">
                <a:effectLst/>
                <a:latin typeface="Times New Roman" panose="02020603050405020304" pitchFamily="18" charset="0"/>
                <a:ea typeface="Times New Roman" panose="02020603050405020304" pitchFamily="18" charset="0"/>
              </a:rPr>
              <a:t>.</a:t>
            </a:r>
          </a:p>
          <a:p>
            <a:pPr marL="0" lvl="0" indent="0">
              <a:buNone/>
            </a:pPr>
            <a:r>
              <a:rPr lang="en-US" dirty="0"/>
              <a:t> </a:t>
            </a:r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r>
              <a:rPr lang="en-US" dirty="0"/>
              <a:t>                                                                    </a:t>
            </a:r>
          </a:p>
          <a:p>
            <a:pPr lvl="0">
              <a:lnSpc>
                <a:spcPct val="100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screen displays the input form where the user enters applicant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details such as gender, income, loan amount, credit history, and property area. </a:t>
            </a:r>
          </a:p>
          <a:p>
            <a:pPr lvl="0">
              <a:lnSpc>
                <a:spcPct val="100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interface is designed using a structured layout with dropdowns and</a:t>
            </a:r>
          </a:p>
          <a:p>
            <a:pPr marL="0" lvl="0" indent="0">
              <a:lnSpc>
                <a:spcPct val="100000"/>
              </a:lnSpc>
              <a:buNone/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  input fields for easy data entry. </a:t>
            </a:r>
          </a:p>
          <a:p>
            <a:pPr lvl="0">
              <a:lnSpc>
                <a:spcPct val="100000"/>
              </a:lnSpc>
            </a:pP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ensures user-friendly interaction and validates inputs before prediction.</a:t>
            </a:r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7BACE5-322B-3F55-2CA9-8E1D411702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D1AF6B-7EFE-60E0-2350-AE083D01AD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6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0F8B051A-1435-9DFF-FA09-965F7FE0EA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6625" y="1190041"/>
            <a:ext cx="5398943" cy="310948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AB86110-93B3-1663-365F-480A39712A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74672" y="2606893"/>
            <a:ext cx="5151120" cy="1692633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40801A68-B3F0-EFB7-CF01-DA0BC2C9EE8E}"/>
              </a:ext>
            </a:extLst>
          </p:cNvPr>
          <p:cNvSpPr txBox="1"/>
          <p:nvPr/>
        </p:nvSpPr>
        <p:spPr>
          <a:xfrm>
            <a:off x="6774672" y="4522105"/>
            <a:ext cx="4699327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screen shows the predicted loan status (Approved/Rejected) generated by Decision Tree and SVM models along with confidence scores.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The results are displayed clearly for comparison between both models. 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helps users understand how different algorithms respond to the same input data.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5269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6120EC-64D2-7EBD-6A92-372AAEC66E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29C9586-8813-A4AF-1701-D33FFAEE4A0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EBA902B-AE09-89D5-509D-0ADA6DA87C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85135" y="1267326"/>
            <a:ext cx="11068665" cy="4909637"/>
          </a:xfrm>
        </p:spPr>
        <p:txBody>
          <a:bodyPr/>
          <a:lstStyle/>
          <a:p>
            <a:pPr lvl="0"/>
            <a:endParaRPr lang="en-US" dirty="0"/>
          </a:p>
          <a:p>
            <a:pPr lvl="0"/>
            <a:endParaRPr lang="en-US" dirty="0"/>
          </a:p>
          <a:p>
            <a:pPr marL="0" lvl="0" indent="0">
              <a:buNone/>
            </a:pP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482CBA-FE6F-C749-5CEC-672E1C0DCF7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478F285-A580-C8E4-D07D-595349FB7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7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E4D62F5-2583-DD36-B330-99B867EB3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2447" y="1387822"/>
            <a:ext cx="5031105" cy="310371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1E69D1C6-D11C-B4DE-8D65-7E6F6BD92F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8450" y="1387823"/>
            <a:ext cx="4592506" cy="3090639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452E7BE9-C0D2-4B5C-36E8-51F9AAACCDC7}"/>
              </a:ext>
            </a:extLst>
          </p:cNvPr>
          <p:cNvSpPr txBox="1"/>
          <p:nvPr/>
        </p:nvSpPr>
        <p:spPr>
          <a:xfrm>
            <a:off x="601275" y="4871403"/>
            <a:ext cx="5366906" cy="14875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>
              <a:buFont typeface="Arial" panose="020B0604020202020204" pitchFamily="34" charset="0"/>
              <a:buChar char="•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graph compares the confidence scores of Decision Tree and </a:t>
            </a:r>
          </a:p>
          <a:p>
            <a:pPr marR="0" lvl="0"/>
            <a:r>
              <a:rPr lang="en-US" sz="1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</a:t>
            </a: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Support Vector Machine (SVM) for the given input. </a:t>
            </a:r>
          </a:p>
          <a:p>
            <a:pPr marL="285750" marR="0" lvl="0" indent="-285750">
              <a:buFont typeface="Arial" panose="020B0604020202020204" pitchFamily="34" charset="0"/>
              <a:buChar char="•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It shows the probability of loan approval predicted by each model.</a:t>
            </a:r>
          </a:p>
          <a:p>
            <a:pPr marR="0" lvl="0"/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Higher confidence indicates stronger certainty in the prediction. </a:t>
            </a:r>
          </a:p>
          <a:p>
            <a:pPr marL="285750" marR="0" lvl="0" indent="-285750">
              <a:spcAft>
                <a:spcPts val="800"/>
              </a:spcAft>
              <a:buFont typeface="Arial" panose="020B0604020202020204" pitchFamily="34" charset="0"/>
              <a:buChar char="•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visualization helps in understanding which model is more</a:t>
            </a:r>
          </a:p>
          <a:p>
            <a:pPr marR="0" lvl="0">
              <a:spcAft>
                <a:spcPts val="800"/>
              </a:spcAft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confident</a:t>
            </a:r>
            <a:r>
              <a:rPr lang="en-US" sz="1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</a:t>
            </a: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about its decision for the same applicant data.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0B450982-C32B-C2AC-E630-7C4EE77A727F}"/>
              </a:ext>
            </a:extLst>
          </p:cNvPr>
          <p:cNvSpPr txBox="1"/>
          <p:nvPr/>
        </p:nvSpPr>
        <p:spPr>
          <a:xfrm>
            <a:off x="6561887" y="4876919"/>
            <a:ext cx="4885124" cy="166199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graph shows the distribution of approved and rejected loan applications.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It helps in understanding whether the dataset is balanced or biased. </a:t>
            </a:r>
          </a:p>
          <a:p>
            <a:pPr marL="285750" lvl="0" indent="-285750">
              <a:buFont typeface="Arial" panose="020B0604020202020204" pitchFamily="34" charset="0"/>
              <a:buChar char="•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This visualization also gives an overview of overall loan approval trends.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6957553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11132E-0EEC-9D20-27EF-358891FFBA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9FAB3-4F89-DCAA-C93F-82B164DB5B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C57143-9C3C-C7C9-5F05-99E23C789BC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23567" y="1446713"/>
            <a:ext cx="10515600" cy="4909637"/>
          </a:xfrm>
        </p:spPr>
        <p:txBody>
          <a:bodyPr/>
          <a:lstStyle/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marL="0" marR="0" lvl="0" indent="0">
              <a:lnSpc>
                <a:spcPct val="115000"/>
              </a:lnSpc>
              <a:buNone/>
            </a:pPr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98E39F-1197-451C-84E7-161CDCC4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F18AA376-1EE3-EF6B-949F-277D3AD9D2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8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7CA018-777D-DAF2-7299-FCB0024BE7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644" y="1326738"/>
            <a:ext cx="4884420" cy="331408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42567613-E848-1496-B4A3-68A621D27F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25828" y="1326738"/>
            <a:ext cx="5244527" cy="3314088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28FF7301-0F24-947F-8223-6003E49C4E10}"/>
              </a:ext>
            </a:extLst>
          </p:cNvPr>
          <p:cNvSpPr txBox="1"/>
          <p:nvPr/>
        </p:nvSpPr>
        <p:spPr>
          <a:xfrm>
            <a:off x="503903" y="4826511"/>
            <a:ext cx="5306962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bar chart compares Decision Tree and SVM using accuracy,</a:t>
            </a:r>
          </a:p>
          <a:p>
            <a:pPr marR="0" lvl="0"/>
            <a:r>
              <a:rPr lang="en-US" sz="1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precision, recall, and F1-score.</a:t>
            </a:r>
          </a:p>
          <a:p>
            <a:pPr marL="342900" marR="0" lvl="0" indent="-342900"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It visually represents which model performs better across different</a:t>
            </a:r>
          </a:p>
          <a:p>
            <a:pPr marR="0" lvl="0"/>
            <a:r>
              <a:rPr lang="en-US" sz="1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evaluation metrics.</a:t>
            </a:r>
          </a:p>
          <a:p>
            <a:pPr marL="342900" marR="0" lvl="0" indent="-342900"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helps in selecting the most suitable model for loan prediction.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3D30ABB-1EB7-7BE8-31CE-3758B36C3F55}"/>
              </a:ext>
            </a:extLst>
          </p:cNvPr>
          <p:cNvSpPr txBox="1"/>
          <p:nvPr/>
        </p:nvSpPr>
        <p:spPr>
          <a:xfrm>
            <a:off x="6096000" y="4826511"/>
            <a:ext cx="5592097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screen displays the performance metrics of Decision Tree and Support Vector Machine (SVM) models in text format. </a:t>
            </a:r>
          </a:p>
          <a:p>
            <a:pPr marL="342900" marR="0" lvl="0" indent="-342900"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It includes important evaluation measures such as accuracy, precision, recall, and F1-score for both models. </a:t>
            </a:r>
          </a:p>
          <a:p>
            <a:pPr marL="342900" marR="0" lvl="0" indent="-342900"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The comparison helps in clearly understanding the effectiveness of each algorithm. </a:t>
            </a:r>
          </a:p>
        </p:txBody>
      </p:sp>
    </p:spTree>
    <p:extLst>
      <p:ext uri="{BB962C8B-B14F-4D97-AF65-F5344CB8AC3E}">
        <p14:creationId xmlns:p14="http://schemas.microsoft.com/office/powerpoint/2010/main" val="249150764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C04A86-653E-98A5-8C35-3EAABA5E86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726EF2-80BA-30F3-DEDB-DFCA23461E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D0AC40-1181-D307-17A0-38E4D102A8B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72073" y="1446713"/>
            <a:ext cx="10515600" cy="4909637"/>
          </a:xfrm>
        </p:spPr>
        <p:txBody>
          <a:bodyPr/>
          <a:lstStyle/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marL="0" marR="0" lvl="0" indent="0">
              <a:lnSpc>
                <a:spcPct val="115000"/>
              </a:lnSpc>
              <a:buNone/>
            </a:pPr>
            <a:endParaRPr lang="en-US" sz="1800" kern="100" dirty="0">
              <a:effectLst/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  <a:p>
            <a:pPr lvl="0"/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C849DFA-91D1-8119-6222-B0952A7C82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BC10EE2-2009-487F-6EC0-C2C9137FD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9</a:t>
            </a:fld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65F4693-66EA-A188-BBB1-2E7F922A33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5093" y="1446713"/>
            <a:ext cx="5069840" cy="301951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740B06A-E71B-8C1C-5504-27C939784E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53316" y="1446713"/>
            <a:ext cx="5268449" cy="301951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B39D218A-FE74-D276-0479-52942C616937}"/>
              </a:ext>
            </a:extLst>
          </p:cNvPr>
          <p:cNvSpPr txBox="1"/>
          <p:nvPr/>
        </p:nvSpPr>
        <p:spPr>
          <a:xfrm>
            <a:off x="395093" y="4718789"/>
            <a:ext cx="5228959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matrix shows the performance of the models by displaying</a:t>
            </a:r>
          </a:p>
          <a:p>
            <a:pPr marR="0" lvl="0"/>
            <a:r>
              <a:rPr lang="en-US" sz="1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correct and incorrect predictions (true positives, true negatives,</a:t>
            </a:r>
          </a:p>
          <a:p>
            <a:pPr marR="0" lvl="0"/>
            <a:r>
              <a:rPr lang="en-US" sz="1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false positives, false negatives). </a:t>
            </a:r>
          </a:p>
          <a:p>
            <a:pPr marL="342900" marR="0" lvl="0" indent="-342900"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It provides a detailed view of how well the model classifies loan</a:t>
            </a:r>
          </a:p>
          <a:p>
            <a:pPr marR="0" lvl="0"/>
            <a:r>
              <a:rPr lang="en-US" sz="1400" kern="100" dirty="0"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        </a:t>
            </a: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approvals and rejections. </a:t>
            </a:r>
          </a:p>
          <a:p>
            <a:pPr marL="342900" marR="0" lvl="0" indent="-342900"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helps in identifying errors made by the model.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E76855B-9498-D8A1-BFC4-AE59C5EE715C}"/>
              </a:ext>
            </a:extLst>
          </p:cNvPr>
          <p:cNvSpPr txBox="1"/>
          <p:nvPr/>
        </p:nvSpPr>
        <p:spPr>
          <a:xfrm>
            <a:off x="5956546" y="4784586"/>
            <a:ext cx="5663381" cy="13849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graph represents the structure of the Decision Tree, showing how different features lead to the final prediction. </a:t>
            </a:r>
          </a:p>
          <a:p>
            <a:pPr marL="342900" marR="0" lvl="0" indent="-342900"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Each node displays a condition, and branches represent possible outcomes. </a:t>
            </a:r>
          </a:p>
          <a:p>
            <a:pPr marL="342900" marR="0" lvl="0" indent="-342900"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It helps in understanding the decision-making process and the logic followed by the model.</a:t>
            </a:r>
          </a:p>
        </p:txBody>
      </p:sp>
    </p:spTree>
    <p:extLst>
      <p:ext uri="{BB962C8B-B14F-4D97-AF65-F5344CB8AC3E}">
        <p14:creationId xmlns:p14="http://schemas.microsoft.com/office/powerpoint/2010/main" val="289537953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9F47D3-1227-D1EC-BBF9-C4EF042B1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B2101C-7366-99CB-E5A4-8A9874579F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D7C0E22-7C33-4780-A06E-8C4861AC9C9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/>
          <a:lstStyle/>
          <a:p>
            <a:pPr lvl="0"/>
            <a:endParaRPr lang="en-US" dirty="0"/>
          </a:p>
          <a:p>
            <a:pPr lvl="0"/>
            <a:endParaRPr lang="en-US" dirty="0"/>
          </a:p>
          <a:p>
            <a:pPr marL="0" lvl="0" indent="0">
              <a:buNone/>
            </a:pPr>
            <a:endParaRPr lang="en-US" dirty="0"/>
          </a:p>
          <a:p>
            <a:pPr marL="0" lvl="0" indent="0">
              <a:buNone/>
            </a:pPr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lvl="0"/>
            <a:endParaRPr lang="en-US" dirty="0"/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6E665B-888C-7CE8-0982-FC6A280B7C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3320619-96C0-15EC-14AF-27903ED7F27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10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398E6E8-0610-878B-4843-DE2E793809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2619" y="1267326"/>
            <a:ext cx="7600335" cy="3196519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99108926-547B-21AD-7C36-EEAB2BC71FAB}"/>
              </a:ext>
            </a:extLst>
          </p:cNvPr>
          <p:cNvSpPr txBox="1"/>
          <p:nvPr/>
        </p:nvSpPr>
        <p:spPr>
          <a:xfrm>
            <a:off x="432619" y="4736932"/>
            <a:ext cx="7452851" cy="13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marR="0" lvl="0" indent="-342900" algn="just">
              <a:lnSpc>
                <a:spcPct val="150000"/>
              </a:lnSpc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chart highlights the importance of features such as credit history, income, and loan amount in influencing loan approval. </a:t>
            </a:r>
          </a:p>
          <a:p>
            <a:pPr marL="342900" marR="0" lvl="0" indent="-342900" algn="just">
              <a:lnSpc>
                <a:spcPct val="150000"/>
              </a:lnSpc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Features with higher importance have a greater impact on the model’s decision. </a:t>
            </a:r>
          </a:p>
          <a:p>
            <a:pPr marL="342900" marR="0" lvl="0" indent="-342900" algn="just">
              <a:lnSpc>
                <a:spcPct val="150000"/>
              </a:lnSpc>
              <a:spcAft>
                <a:spcPts val="800"/>
              </a:spcAft>
              <a:buFont typeface="Symbol" panose="05050102010706020507" pitchFamily="18" charset="2"/>
              <a:buChar char=""/>
            </a:pPr>
            <a:r>
              <a:rPr lang="en-US" sz="1400" kern="100" dirty="0">
                <a:effectLst/>
                <a:latin typeface="Times New Roman" panose="02020603050405020304" pitchFamily="18" charset="0"/>
                <a:ea typeface="Calibri" panose="020F0502020204030204" pitchFamily="34" charset="0"/>
                <a:cs typeface="Times New Roman" panose="02020603050405020304" pitchFamily="18" charset="0"/>
              </a:rPr>
              <a:t>This visualization helps in identifying key factors affecting loan approval.</a:t>
            </a:r>
          </a:p>
        </p:txBody>
      </p:sp>
    </p:spTree>
    <p:extLst>
      <p:ext uri="{BB962C8B-B14F-4D97-AF65-F5344CB8AC3E}">
        <p14:creationId xmlns:p14="http://schemas.microsoft.com/office/powerpoint/2010/main" val="132470533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AD63ECA-B59E-8742-1165-9911D2A450C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B2EF6-B936-B9EB-24E4-C84A062402D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OUTPUT AND RESULTS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9409AF-1BD6-CFDC-B172-AD3D38536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 fontScale="92500" lnSpcReduction="10000"/>
          </a:bodyPr>
          <a:lstStyle/>
          <a:p>
            <a:pPr lvl="0"/>
            <a:endParaRPr lang="en-GB" sz="2000" b="1" dirty="0"/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Results</a:t>
            </a:r>
          </a:p>
          <a:p>
            <a:pPr marL="914400" lvl="2" indent="0">
              <a:lnSpc>
                <a:spcPct val="12000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Model provides accurate loan approval predictions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Decision Tree and SVM give reliable classification results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Real-time prediction through web interface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User-friendly interface with clear outputs and graphs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Helps in faster and unbiased decision-making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2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Future enhancements</a:t>
            </a:r>
          </a:p>
          <a:p>
            <a:pPr marL="914400" lvl="2" indent="0">
              <a:lnSpc>
                <a:spcPct val="120000"/>
              </a:lnSpc>
              <a:buNone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Use larger real-world banking datasets instead of limited data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Apply advanced models like Random Forest or Deep Learning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Improve prediction accuracy with feature engineering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Deploy as a mobile application for easy access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Add loan risk scoring and approval probability prediction</a:t>
            </a:r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4773938-5370-329C-27AB-D82ECB9D712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8A83B3C-8735-B8FC-8D50-B919B347134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6336352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DEA9EE-5679-A557-E7BF-0A904D0977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BF6077-2697-7116-5A2C-99B8054B7F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365126"/>
            <a:ext cx="12192000" cy="645528"/>
          </a:xfrm>
        </p:spPr>
        <p:style>
          <a:lnRef idx="0">
            <a:schemeClr val="accent2"/>
          </a:lnRef>
          <a:fillRef idx="3">
            <a:schemeClr val="accent2"/>
          </a:fillRef>
          <a:effectRef idx="3">
            <a:schemeClr val="accent2"/>
          </a:effectRef>
          <a:fontRef idx="minor">
            <a:schemeClr val="lt1"/>
          </a:fontRef>
        </p:style>
        <p:txBody>
          <a:bodyPr>
            <a:normAutofit fontScale="90000"/>
          </a:bodyPr>
          <a:lstStyle/>
          <a:p>
            <a:pPr algn="ctr"/>
            <a:r>
              <a:rPr lang="en-GB" b="1" dirty="0">
                <a:solidFill>
                  <a:schemeClr val="tx1"/>
                </a:solidFill>
              </a:rPr>
              <a:t>REFERENCES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AB1971-AF7F-80EE-26ED-EA8A7E8C7C2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67326"/>
            <a:ext cx="10515600" cy="4909637"/>
          </a:xfrm>
        </p:spPr>
        <p:txBody>
          <a:bodyPr>
            <a:normAutofit fontScale="92500" lnSpcReduction="20000"/>
          </a:bodyPr>
          <a:lstStyle/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Scikit-learn Documentation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  <a:hlinkClick r:id="rId2"/>
              </a:rPr>
              <a:t>https://scikit-learn.org/stable/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UCI Machine Learning Repository – Loan Prediction Dataset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  <a:hlinkClick r:id="rId3"/>
              </a:rPr>
              <a:t>https://archive.ics.uci.edu/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Hands-On Machine Learning with Scikit-Learn,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Keras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and TensorFlow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Aurélien </a:t>
            </a: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Géron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O’Reilly Media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Kaggle – Loan Prediction Dataset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  <a:hlinkClick r:id="rId4"/>
              </a:rPr>
              <a:t>https://www.kaggle.com/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Towards Data Science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  <a:hlinkClick r:id="rId5"/>
              </a:rPr>
              <a:t>https://towardsdatascience.com/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2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GeeksforGeeks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 Decision Tree &amp; SVM Tutorials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  <a:hlinkClick r:id="rId6"/>
              </a:rPr>
              <a:t>https://www.geeksforgeeks.org/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lvl="1">
              <a:lnSpc>
                <a:spcPct val="120000"/>
              </a:lnSpc>
              <a:buFont typeface="Wingdings" panose="05000000000000000000" pitchFamily="2" charset="2"/>
              <a:buChar char="Ø"/>
            </a:pP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Software Foundation</a:t>
            </a:r>
            <a:b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  <a:hlinkClick r:id="rId7"/>
              </a:rPr>
              <a:t>https://docs.python.org/3/</a:t>
            </a:r>
            <a:r>
              <a:rPr lang="en-U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</a:p>
          <a:p>
            <a:pPr marL="0" lv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18721BC-42E2-4822-3086-5AF81F1A37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480D13-07B8-4CF5-901F-BD1025D74351}" type="datetime1">
              <a:rPr lang="en-US" smtClean="0"/>
              <a:t>4/25/2026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0D8BC28-15FA-0C88-32FB-88458DEBBC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FCEF87E-815D-44D1-B0AB-39AF0402D6A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260715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630</TotalTime>
  <Words>1193</Words>
  <Application>Microsoft Office PowerPoint</Application>
  <PresentationFormat>Widescreen</PresentationFormat>
  <Paragraphs>152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9" baseType="lpstr">
      <vt:lpstr>Arial</vt:lpstr>
      <vt:lpstr>Calibri</vt:lpstr>
      <vt:lpstr>Calibri Light</vt:lpstr>
      <vt:lpstr>Symbol</vt:lpstr>
      <vt:lpstr>Times New Roman</vt:lpstr>
      <vt:lpstr>Wingdings</vt:lpstr>
      <vt:lpstr>Office Theme</vt:lpstr>
      <vt:lpstr>DEPARTMENT OF CSE (ARTIFICIAL INTELLIGENCE AND MACHINE LEARNING) ACADEMIC YEAR 2025 - 2026 SEMESTER IV MACHINE LEARNING LABORATORY  MINI PROJECT REVIEW   &lt;Run Rate Based Score Prediction Model for IPL Matches using Random forest regression method &gt;</vt:lpstr>
      <vt:lpstr>PROBLEM STATEMENT</vt:lpstr>
      <vt:lpstr>THEORETICAL BACKGROUND</vt:lpstr>
      <vt:lpstr>THEORETICAL BACKGROUND</vt:lpstr>
      <vt:lpstr>IMPLEMENTATION AND CODE</vt:lpstr>
      <vt:lpstr>OUTPUT AND RESULTS</vt:lpstr>
      <vt:lpstr>OUTPUT AND RESULTS</vt:lpstr>
      <vt:lpstr>OUTPUT AND RESULTS</vt:lpstr>
      <vt:lpstr>OUTPUT AND RESULTS</vt:lpstr>
      <vt:lpstr>OUTPUT AND RESULTS</vt:lpstr>
      <vt:lpstr>OUTPUT AND RESULTS</vt:lpstr>
      <vt:lpstr>REFERENCES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SANKAR GANESH K</dc:creator>
  <cp:lastModifiedBy>K Harini</cp:lastModifiedBy>
  <cp:revision>8</cp:revision>
  <dcterms:created xsi:type="dcterms:W3CDTF">2025-10-18T08:57:34Z</dcterms:created>
  <dcterms:modified xsi:type="dcterms:W3CDTF">2026-04-25T07:42:33Z</dcterms:modified>
</cp:coreProperties>
</file>